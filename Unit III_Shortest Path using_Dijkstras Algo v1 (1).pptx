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7" r:id="rId20"/>
    <p:sldId id="278" r:id="rId21"/>
    <p:sldId id="275" r:id="rId22"/>
    <p:sldId id="276" r:id="rId23"/>
    <p:sldId id="279" r:id="rId24"/>
  </p:sldIdLst>
  <p:sldSz cx="10160000" cy="7620000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97" autoAdjust="0"/>
    <p:restoredTop sz="90929"/>
  </p:normalViewPr>
  <p:slideViewPr>
    <p:cSldViewPr>
      <p:cViewPr varScale="1">
        <p:scale>
          <a:sx n="49" d="100"/>
          <a:sy n="49" d="100"/>
        </p:scale>
        <p:origin x="106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49C998-774D-AD82-2EFC-246AB46B04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58AD72-D8B2-EAB4-0FC8-86DFB4FF12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BF7212E-0248-480C-8BCE-1941E439B102}" type="datetimeFigureOut">
              <a:rPr lang="en-US"/>
              <a:pPr>
                <a:defRPr/>
              </a:pPr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2283D-5250-40CC-82F2-1B50CE733D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88C67-7A89-0AA7-AC0E-42172DFFE7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C2054C9-E8CE-4AB5-AC56-B9A1788C94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8C5310-F70F-8130-4DB3-CF35DFA63A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3BA34-8F4B-B850-04A8-0B103A94077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8BF6611B-7C0B-46C5-9E81-269A1AD57223}" type="datetimeFigureOut">
              <a:rPr lang="en-US"/>
              <a:pPr>
                <a:defRPr/>
              </a:pPr>
              <a:t>4/23/2025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D8D245B-BE3C-BF42-3939-684B9997B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8F3CD2-958A-7A87-99A1-16121C8EB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B3DFE-0E90-1FBB-CE7B-F0AA73E47E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BDCAD-70C5-D845-3D20-5395F2AF3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6F2B87AB-A5BF-420E-A175-ED03CE56A6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77EC333C-1EE5-63E7-70DD-5E0B04A4C7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A6F767B0-E17A-3082-30E3-24B64C2C77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A1FD44A8-C348-AF10-5FB5-AB1B4A2EE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5A34BD-8093-460C-8513-F587000289A4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6F2C3-E429-F074-C0BC-C030071C0CED}"/>
              </a:ext>
            </a:extLst>
          </p:cNvPr>
          <p:cNvSpPr/>
          <p:nvPr/>
        </p:nvSpPr>
        <p:spPr bwMode="auto">
          <a:xfrm>
            <a:off x="423863" y="0"/>
            <a:ext cx="676275" cy="7620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FFD0B-11D2-AB01-8037-72EF6B658891}"/>
              </a:ext>
            </a:extLst>
          </p:cNvPr>
          <p:cNvSpPr/>
          <p:nvPr/>
        </p:nvSpPr>
        <p:spPr bwMode="auto">
          <a:xfrm>
            <a:off x="306388" y="0"/>
            <a:ext cx="117475" cy="7620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F09F64-84A7-23C3-B422-E63937A10199}"/>
              </a:ext>
            </a:extLst>
          </p:cNvPr>
          <p:cNvSpPr/>
          <p:nvPr/>
        </p:nvSpPr>
        <p:spPr bwMode="auto">
          <a:xfrm>
            <a:off x="1100138" y="0"/>
            <a:ext cx="203200" cy="7620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70816E-5E36-1B62-B185-E30C5A3810F8}"/>
              </a:ext>
            </a:extLst>
          </p:cNvPr>
          <p:cNvSpPr/>
          <p:nvPr/>
        </p:nvSpPr>
        <p:spPr bwMode="auto">
          <a:xfrm>
            <a:off x="1268413" y="0"/>
            <a:ext cx="255587" cy="7620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93BC1CD1-B38D-0A9F-DD28-014429B1D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475" y="0"/>
            <a:ext cx="0" cy="7620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66975EF-7EFD-3A52-D636-F1A4AE98F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000" y="0"/>
            <a:ext cx="0" cy="7620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D7698C0-E261-702A-866B-7CD237E9C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9325" y="0"/>
            <a:ext cx="0" cy="7620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FB3AB4C-D95D-3B3F-D2AB-F180DC5AB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0"/>
            <a:ext cx="0" cy="7620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5FE9738-6A3C-3C4C-BE14-5782D4AA8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5863" y="0"/>
            <a:ext cx="0" cy="7620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C5A4460-93C6-BB17-49D2-C5C859F32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6663" y="0"/>
            <a:ext cx="0" cy="7620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9876E4-31B6-B7E9-A6BB-F25FB754B2A2}"/>
              </a:ext>
            </a:extLst>
          </p:cNvPr>
          <p:cNvSpPr/>
          <p:nvPr/>
        </p:nvSpPr>
        <p:spPr bwMode="auto">
          <a:xfrm>
            <a:off x="1354138" y="0"/>
            <a:ext cx="85725" cy="7620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DE6DCC-C360-904E-72A1-C579CDB6C382}"/>
              </a:ext>
            </a:extLst>
          </p:cNvPr>
          <p:cNvSpPr/>
          <p:nvPr/>
        </p:nvSpPr>
        <p:spPr bwMode="auto">
          <a:xfrm>
            <a:off x="677863" y="3810000"/>
            <a:ext cx="1438275" cy="1439863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DA12C77-8877-158B-6BB4-69136963277F}"/>
              </a:ext>
            </a:extLst>
          </p:cNvPr>
          <p:cNvSpPr/>
          <p:nvPr/>
        </p:nvSpPr>
        <p:spPr bwMode="auto">
          <a:xfrm>
            <a:off x="1455738" y="5407025"/>
            <a:ext cx="712787" cy="712788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2536C5-ABDD-4A42-4F6A-61B9E1D2EFAB}"/>
              </a:ext>
            </a:extLst>
          </p:cNvPr>
          <p:cNvSpPr/>
          <p:nvPr/>
        </p:nvSpPr>
        <p:spPr bwMode="auto">
          <a:xfrm>
            <a:off x="1212850" y="6111875"/>
            <a:ext cx="152400" cy="15240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BF02B3-B153-2626-598D-AC4373A795A2}"/>
              </a:ext>
            </a:extLst>
          </p:cNvPr>
          <p:cNvSpPr/>
          <p:nvPr/>
        </p:nvSpPr>
        <p:spPr bwMode="auto">
          <a:xfrm>
            <a:off x="1849438" y="6430963"/>
            <a:ext cx="304800" cy="30480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086B507-31E3-A551-54EE-D77D56533EA7}"/>
              </a:ext>
            </a:extLst>
          </p:cNvPr>
          <p:cNvSpPr/>
          <p:nvPr/>
        </p:nvSpPr>
        <p:spPr>
          <a:xfrm>
            <a:off x="2116138" y="4995863"/>
            <a:ext cx="406400" cy="40640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540000" y="3471333"/>
            <a:ext cx="6858000" cy="210484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540000" y="5559247"/>
            <a:ext cx="6858000" cy="1524000"/>
          </a:xfrm>
        </p:spPr>
        <p:txBody>
          <a:bodyPr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 marL="507995" indent="0" algn="ctr">
              <a:buNone/>
            </a:lvl2pPr>
            <a:lvl3pPr marL="1015990" indent="0" algn="ctr">
              <a:buNone/>
            </a:lvl3pPr>
            <a:lvl4pPr marL="1523985" indent="0" algn="ctr">
              <a:buNone/>
            </a:lvl4pPr>
            <a:lvl5pPr marL="2031980" indent="0" algn="ctr">
              <a:buNone/>
            </a:lvl5pPr>
            <a:lvl6pPr marL="2539975" indent="0" algn="ctr">
              <a:buNone/>
            </a:lvl6pPr>
            <a:lvl7pPr marL="3047970" indent="0" algn="ctr">
              <a:buNone/>
            </a:lvl7pPr>
            <a:lvl8pPr marL="3555964" indent="0" algn="ctr">
              <a:buNone/>
            </a:lvl8pPr>
            <a:lvl9pPr marL="4063959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27">
            <a:extLst>
              <a:ext uri="{FF2B5EF4-FFF2-40B4-BE49-F238E27FC236}">
                <a16:creationId xmlns:a16="http://schemas.microsoft.com/office/drawing/2014/main" id="{2BDFFC7F-A388-57E9-6715-5341BB57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8627269" y="1304132"/>
            <a:ext cx="2540000" cy="4238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Footer Placeholder 16">
            <a:extLst>
              <a:ext uri="{FF2B5EF4-FFF2-40B4-BE49-F238E27FC236}">
                <a16:creationId xmlns:a16="http://schemas.microsoft.com/office/drawing/2014/main" id="{FD3D1FCB-78B4-DC37-CC94-3C87C89B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863682" y="4645819"/>
            <a:ext cx="4064000" cy="427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8">
            <a:extLst>
              <a:ext uri="{FF2B5EF4-FFF2-40B4-BE49-F238E27FC236}">
                <a16:creationId xmlns:a16="http://schemas.microsoft.com/office/drawing/2014/main" id="{0565B264-6DB2-C3CD-7C4D-F8ED3AE6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473200" y="5476875"/>
            <a:ext cx="676275" cy="5746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0960E7F-9E0A-4C42-864E-C0C713B8E2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835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508000" y="1778000"/>
            <a:ext cx="8297333" cy="541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221CA3CD-82CF-F8A4-9A25-E241C5F8B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7676420F-889F-22C4-B433-1DC028BB8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26B51AB-1642-4A86-AE01-B6CB76ADDF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806DC10E-C87F-D24E-58AA-CCD3B09EBA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7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254A49-5EF0-458A-F253-310EDD665688}"/>
              </a:ext>
            </a:extLst>
          </p:cNvPr>
          <p:cNvSpPr/>
          <p:nvPr/>
        </p:nvSpPr>
        <p:spPr bwMode="auto">
          <a:xfrm>
            <a:off x="423863" y="0"/>
            <a:ext cx="676275" cy="7620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20282-0D0B-0B43-C88E-41E0E235BA35}"/>
              </a:ext>
            </a:extLst>
          </p:cNvPr>
          <p:cNvSpPr/>
          <p:nvPr/>
        </p:nvSpPr>
        <p:spPr bwMode="auto">
          <a:xfrm>
            <a:off x="306388" y="0"/>
            <a:ext cx="117475" cy="7620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44F7E3-04F8-A66D-DFC3-8AB2AD4D1B52}"/>
              </a:ext>
            </a:extLst>
          </p:cNvPr>
          <p:cNvSpPr/>
          <p:nvPr/>
        </p:nvSpPr>
        <p:spPr bwMode="auto">
          <a:xfrm>
            <a:off x="1100138" y="0"/>
            <a:ext cx="203200" cy="7620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98E91-6BFC-037C-8A62-17948757A661}"/>
              </a:ext>
            </a:extLst>
          </p:cNvPr>
          <p:cNvSpPr/>
          <p:nvPr/>
        </p:nvSpPr>
        <p:spPr bwMode="auto">
          <a:xfrm>
            <a:off x="1268413" y="0"/>
            <a:ext cx="255587" cy="7620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692A11A-B5EA-9366-C510-2AC833AF5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475" y="0"/>
            <a:ext cx="0" cy="7620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B89EB72-EE36-1872-4F5A-8E4A85D59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000" y="0"/>
            <a:ext cx="0" cy="7620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53D0C54-79E3-3106-0D2C-25E7F5FF9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9325" y="0"/>
            <a:ext cx="0" cy="7620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4063317-653E-B6A1-B6BC-63C67459E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0"/>
            <a:ext cx="0" cy="7620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D0F4824-3D0A-AEA9-1050-565D4CA215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5863" y="0"/>
            <a:ext cx="0" cy="7620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9F2D8-67D7-8846-777B-D242747F0139}"/>
              </a:ext>
            </a:extLst>
          </p:cNvPr>
          <p:cNvSpPr/>
          <p:nvPr/>
        </p:nvSpPr>
        <p:spPr bwMode="auto">
          <a:xfrm>
            <a:off x="1354138" y="0"/>
            <a:ext cx="85725" cy="7620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691DF57-C668-897E-9F1A-7319D216D90D}"/>
              </a:ext>
            </a:extLst>
          </p:cNvPr>
          <p:cNvSpPr/>
          <p:nvPr/>
        </p:nvSpPr>
        <p:spPr bwMode="auto">
          <a:xfrm>
            <a:off x="677863" y="3810000"/>
            <a:ext cx="1438275" cy="1439863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F20B10-C75F-3BCA-4DE0-326E43A54BA8}"/>
              </a:ext>
            </a:extLst>
          </p:cNvPr>
          <p:cNvSpPr/>
          <p:nvPr/>
        </p:nvSpPr>
        <p:spPr bwMode="auto">
          <a:xfrm>
            <a:off x="1471613" y="5407025"/>
            <a:ext cx="712787" cy="712788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C4DAA8B-4478-F594-428E-079974FB7AD9}"/>
              </a:ext>
            </a:extLst>
          </p:cNvPr>
          <p:cNvSpPr/>
          <p:nvPr/>
        </p:nvSpPr>
        <p:spPr bwMode="auto">
          <a:xfrm>
            <a:off x="1212850" y="6111875"/>
            <a:ext cx="152400" cy="15240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B96355-A4CB-1224-B675-39AC73DA0BAF}"/>
              </a:ext>
            </a:extLst>
          </p:cNvPr>
          <p:cNvSpPr/>
          <p:nvPr/>
        </p:nvSpPr>
        <p:spPr bwMode="auto">
          <a:xfrm>
            <a:off x="1849438" y="6434138"/>
            <a:ext cx="304800" cy="30480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139360-B551-27A8-637E-677AAB96B333}"/>
              </a:ext>
            </a:extLst>
          </p:cNvPr>
          <p:cNvSpPr/>
          <p:nvPr/>
        </p:nvSpPr>
        <p:spPr bwMode="auto">
          <a:xfrm>
            <a:off x="2087563" y="4978400"/>
            <a:ext cx="406400" cy="40640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C6643F6-EACB-43B9-0421-B8417422C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09200" y="0"/>
            <a:ext cx="0" cy="7620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0" y="3217333"/>
            <a:ext cx="6858000" cy="2281767"/>
          </a:xfrm>
        </p:spPr>
        <p:txBody>
          <a:bodyPr/>
          <a:lstStyle>
            <a:lvl1pPr algn="l">
              <a:buNone/>
              <a:defRPr sz="33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0" y="5566833"/>
            <a:ext cx="6858000" cy="1524000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D48F1FE2-0308-AAE3-8357-7FB52329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8625682" y="1300956"/>
            <a:ext cx="2540000" cy="4238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20E9F25-585D-29D2-E887-ABCF277F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863682" y="4642644"/>
            <a:ext cx="4064000" cy="427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68B2D0D2-4F6A-C46E-FDC4-23D9427D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489075" y="5476875"/>
            <a:ext cx="677863" cy="5746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E2DA45D-9B1D-4D06-B74A-9A83901111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0762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78000"/>
            <a:ext cx="4064000" cy="50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744720" y="1778000"/>
            <a:ext cx="4064000" cy="50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DEE1F249-8366-CFE1-B086-2C74CDFF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D91B6E6-7004-6AF6-52AC-86F69DB9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ADB1C9D0-A51B-D469-CA2C-2A0068F6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4E513-72ED-4462-9D88-816D3EDDC4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3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389"/>
            <a:ext cx="8382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08000" y="2624667"/>
            <a:ext cx="4064000" cy="431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57750" y="2624667"/>
            <a:ext cx="4064000" cy="431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508000" y="1744133"/>
            <a:ext cx="4064000" cy="7315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826000" y="1744133"/>
            <a:ext cx="4064000" cy="7315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682C66A4-7A62-E4B2-4D43-A77D971A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408D4C3-B708-8CBD-EF72-C38322F9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921E5F83-FA25-0C53-C904-22683ABB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06264-E4E0-487D-A875-68D3AE8D1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2160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4447B915-F691-2795-467E-852E7415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6BC77E89-D89F-5077-17A4-E616730F9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1991216-6EC2-449A-BF1E-725EE568C7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92063CE2-5FE5-120B-D82A-2C4E86847E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6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B06BAC9E-1C5A-958A-C577-DB4CBA1A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0342D-D5C1-EB2D-8170-8CA87AA5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D09701ED-7943-27B9-E218-EE96B3F4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0BC7C-4231-4EE8-8686-CC70177E13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99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2D6C462-2301-DF29-0B76-8A2CE282A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6138" y="0"/>
            <a:ext cx="0" cy="7620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 dirty="0">
              <a:latin typeface="Times New Roman" charset="0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A73567B-5C01-0E29-33FB-9BE2D25C3B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138" y="0"/>
            <a:ext cx="0" cy="7620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 dirty="0">
              <a:latin typeface="Times New Roman" charset="0"/>
            </a:endParaRPr>
          </a:p>
        </p:txBody>
      </p:sp>
      <p:sp>
        <p:nvSpPr>
          <p:cNvPr id="6" name="Straight Connector 16">
            <a:extLst>
              <a:ext uri="{FF2B5EF4-FFF2-40B4-BE49-F238E27FC236}">
                <a16:creationId xmlns:a16="http://schemas.microsoft.com/office/drawing/2014/main" id="{9EDA3823-97E1-A097-3367-C1F4FF97C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0225" y="0"/>
            <a:ext cx="0" cy="7620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1599" tIns="50799" rIns="101599" bIns="50799"/>
          <a:lstStyle/>
          <a:p>
            <a:endParaRPr lang="en-IN"/>
          </a:p>
        </p:txBody>
      </p:sp>
      <p:sp>
        <p:nvSpPr>
          <p:cNvPr id="7" name="Straight Connector 17">
            <a:extLst>
              <a:ext uri="{FF2B5EF4-FFF2-40B4-BE49-F238E27FC236}">
                <a16:creationId xmlns:a16="http://schemas.microsoft.com/office/drawing/2014/main" id="{38127AE6-3EEC-F19F-FEF8-EF75548F1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0138" y="0"/>
            <a:ext cx="0" cy="7620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1599" tIns="50799" rIns="101599" bIns="50799"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74AB16-8A6C-5B61-4D5B-2A5440B9829E}"/>
              </a:ext>
            </a:extLst>
          </p:cNvPr>
          <p:cNvSpPr/>
          <p:nvPr/>
        </p:nvSpPr>
        <p:spPr bwMode="auto">
          <a:xfrm>
            <a:off x="9821863" y="0"/>
            <a:ext cx="338137" cy="7620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traight Connector 19">
            <a:extLst>
              <a:ext uri="{FF2B5EF4-FFF2-40B4-BE49-F238E27FC236}">
                <a16:creationId xmlns:a16="http://schemas.microsoft.com/office/drawing/2014/main" id="{86261C62-57D2-5079-1210-73C3560B3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0" y="0"/>
            <a:ext cx="0" cy="7620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1599" tIns="50799" rIns="101599" bIns="50799"/>
          <a:lstStyle/>
          <a:p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58DB41-FFB4-A5F1-FCDD-24767F54EECF}"/>
              </a:ext>
            </a:extLst>
          </p:cNvPr>
          <p:cNvSpPr/>
          <p:nvPr/>
        </p:nvSpPr>
        <p:spPr>
          <a:xfrm>
            <a:off x="9063038" y="6350000"/>
            <a:ext cx="609600" cy="6096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746500" y="3556000"/>
            <a:ext cx="7010400" cy="508000"/>
          </a:xfrm>
        </p:spPr>
        <p:txBody>
          <a:bodyPr/>
          <a:lstStyle>
            <a:lvl1pPr algn="l">
              <a:buNone/>
              <a:defRPr sz="22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569200" y="304800"/>
            <a:ext cx="1696720" cy="5537200"/>
          </a:xfrm>
        </p:spPr>
        <p:txBody>
          <a:bodyPr/>
          <a:lstStyle>
            <a:lvl1pPr marL="0" indent="0">
              <a:spcBef>
                <a:spcPts val="444"/>
              </a:spcBef>
              <a:spcAft>
                <a:spcPts val="1111"/>
              </a:spcAft>
              <a:buNone/>
              <a:defRPr sz="1300"/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38667" y="304800"/>
            <a:ext cx="6265333" cy="7030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20">
            <a:extLst>
              <a:ext uri="{FF2B5EF4-FFF2-40B4-BE49-F238E27FC236}">
                <a16:creationId xmlns:a16="http://schemas.microsoft.com/office/drawing/2014/main" id="{A8CBE4CE-7061-4319-75D7-159CBD21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21">
            <a:extLst>
              <a:ext uri="{FF2B5EF4-FFF2-40B4-BE49-F238E27FC236}">
                <a16:creationId xmlns:a16="http://schemas.microsoft.com/office/drawing/2014/main" id="{1BD87EBD-664E-DF53-B607-4A314E5DA1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8EBA085-95BE-4FC9-BEB2-92B15248FB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DFEBBD25-8F08-38D0-F9F0-AEA4718EF0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22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D1FAF69-2994-DBFF-F5F6-F2DFB1684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6138" y="0"/>
            <a:ext cx="0" cy="7620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A36E21F-3AC3-9428-9D03-EBC942DF03C4}"/>
              </a:ext>
            </a:extLst>
          </p:cNvPr>
          <p:cNvSpPr/>
          <p:nvPr/>
        </p:nvSpPr>
        <p:spPr>
          <a:xfrm>
            <a:off x="9063038" y="6350000"/>
            <a:ext cx="609600" cy="6096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7" name="Straight Connector 16">
            <a:extLst>
              <a:ext uri="{FF2B5EF4-FFF2-40B4-BE49-F238E27FC236}">
                <a16:creationId xmlns:a16="http://schemas.microsoft.com/office/drawing/2014/main" id="{97363389-0336-1F16-FF23-09DD86382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0138" y="0"/>
            <a:ext cx="0" cy="7620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1599" tIns="50799" rIns="101599" bIns="50799"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07AE4-73B9-C823-B1FC-19C9BB1EFFDA}"/>
              </a:ext>
            </a:extLst>
          </p:cNvPr>
          <p:cNvSpPr/>
          <p:nvPr/>
        </p:nvSpPr>
        <p:spPr bwMode="auto">
          <a:xfrm>
            <a:off x="9821863" y="0"/>
            <a:ext cx="338137" cy="7620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traight Connector 18">
            <a:extLst>
              <a:ext uri="{FF2B5EF4-FFF2-40B4-BE49-F238E27FC236}">
                <a16:creationId xmlns:a16="http://schemas.microsoft.com/office/drawing/2014/main" id="{CC19D03B-443D-2F7D-2FAE-DBAF402CF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0" y="0"/>
            <a:ext cx="0" cy="7620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1599" tIns="50799" rIns="101599" bIns="50799"/>
          <a:lstStyle/>
          <a:p>
            <a:endParaRPr lang="en-IN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A23E0E7-BAC2-509F-ACFF-6098C6D2C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2138" y="0"/>
            <a:ext cx="0" cy="7620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 dirty="0">
              <a:latin typeface="Times New Roman" charset="0"/>
            </a:endParaRPr>
          </a:p>
        </p:txBody>
      </p:sp>
      <p:sp>
        <p:nvSpPr>
          <p:cNvPr id="11" name="Straight Connector 20">
            <a:extLst>
              <a:ext uri="{FF2B5EF4-FFF2-40B4-BE49-F238E27FC236}">
                <a16:creationId xmlns:a16="http://schemas.microsoft.com/office/drawing/2014/main" id="{FC7820CF-0412-BB0F-A748-A7C61F246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0225" y="0"/>
            <a:ext cx="0" cy="7620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1599" tIns="50799" rIns="101599" bIns="50799"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722370" y="3556000"/>
            <a:ext cx="7010400" cy="508000"/>
          </a:xfrm>
        </p:spPr>
        <p:txBody>
          <a:bodyPr/>
          <a:lstStyle>
            <a:lvl1pPr algn="l">
              <a:buNone/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858000" cy="7620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17554" y="294217"/>
            <a:ext cx="1693333" cy="5506720"/>
          </a:xfrm>
        </p:spPr>
        <p:txBody>
          <a:bodyPr rot="0" spcFirstLastPara="0" vertOverflow="overflow" horzOverflow="overflow" spcCol="304797" rtlCol="0" fromWordArt="0" forceAA="0">
            <a:normAutofit/>
          </a:bodyPr>
          <a:lstStyle>
            <a:lvl1pPr marL="0" indent="0">
              <a:spcBef>
                <a:spcPts val="111"/>
              </a:spcBef>
              <a:spcAft>
                <a:spcPts val="444"/>
              </a:spcAft>
              <a:buFontTx/>
              <a:buNone/>
              <a:defRPr sz="13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>
            <a:extLst>
              <a:ext uri="{FF2B5EF4-FFF2-40B4-BE49-F238E27FC236}">
                <a16:creationId xmlns:a16="http://schemas.microsoft.com/office/drawing/2014/main" id="{8F437446-562F-AB98-A2E6-5F3E57B4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17">
            <a:extLst>
              <a:ext uri="{FF2B5EF4-FFF2-40B4-BE49-F238E27FC236}">
                <a16:creationId xmlns:a16="http://schemas.microsoft.com/office/drawing/2014/main" id="{E810E312-C488-AEF1-C523-5D4D172639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E67211-70AC-4F61-BB71-7DBCFFAAA1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20">
            <a:extLst>
              <a:ext uri="{FF2B5EF4-FFF2-40B4-BE49-F238E27FC236}">
                <a16:creationId xmlns:a16="http://schemas.microsoft.com/office/drawing/2014/main" id="{86B4437F-7090-B018-5223-9305A142AE5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1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2F811E-8F30-135A-91CE-10326367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9C81F52-CC0C-A445-4D60-B78656D8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7E62411B-55A5-C925-5CEA-AA49FEA8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8546C8-11C3-4EBB-895E-A26108105E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18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305155"/>
            <a:ext cx="1862667" cy="65016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5154"/>
            <a:ext cx="6688667" cy="65016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C18EB16-F26A-FC76-26B5-31FB37179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5C8F70F-20DE-8032-F8D9-3A93E3DC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C2DFB4A6-514C-442E-D9B7-6CA7BED9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4C0FB-1009-46B6-9FDE-05992E4B97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56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ADFB689-3596-EB88-2694-B1BF8129C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6138" y="0"/>
            <a:ext cx="0" cy="7620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 dirty="0">
              <a:latin typeface="Times New Roman" charset="0"/>
            </a:endParaRPr>
          </a:p>
        </p:txBody>
      </p:sp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6C87C5CD-9339-CC44-1AC4-E8EEA8EDC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8297863" cy="1270000"/>
          </a:xfrm>
          <a:prstGeom prst="rect">
            <a:avLst/>
          </a:prstGeom>
        </p:spPr>
        <p:txBody>
          <a:bodyPr vert="horz" lIns="101599" tIns="50799" rIns="101599" bIns="50799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>
            <a:extLst>
              <a:ext uri="{FF2B5EF4-FFF2-40B4-BE49-F238E27FC236}">
                <a16:creationId xmlns:a16="http://schemas.microsoft.com/office/drawing/2014/main" id="{36CE6C32-B434-575F-C87E-A787079DF5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08000" y="1778000"/>
            <a:ext cx="8297863" cy="541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599" tIns="50799" rIns="101599" bIns="507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74F2CDD-A776-CDE0-CB54-414F3811A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8432800" y="1203325"/>
            <a:ext cx="2235200" cy="425450"/>
          </a:xfrm>
          <a:prstGeom prst="rect">
            <a:avLst/>
          </a:prstGeom>
        </p:spPr>
        <p:txBody>
          <a:bodyPr vert="horz" lIns="101599" tIns="50799" rIns="101599" bIns="50799" anchor="ctr" anchorCtr="0"/>
          <a:lstStyle>
            <a:lvl1pPr algn="r" eaLnBrk="1" latinLnBrk="0" hangingPunct="1">
              <a:defRPr kumimoji="0" sz="1300">
                <a:solidFill>
                  <a:schemeClr val="tx2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A5C97-502A-AC86-D535-12B3FF79F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7767638" y="4152900"/>
            <a:ext cx="3556000" cy="406400"/>
          </a:xfrm>
          <a:prstGeom prst="rect">
            <a:avLst/>
          </a:prstGeom>
        </p:spPr>
        <p:txBody>
          <a:bodyPr vert="horz" lIns="101599" tIns="50799" rIns="101599" bIns="50799" anchor="ctr" anchorCtr="0"/>
          <a:lstStyle>
            <a:lvl1pPr algn="l" eaLnBrk="1" latinLnBrk="0" hangingPunct="1">
              <a:defRPr kumimoji="0" sz="1300">
                <a:solidFill>
                  <a:schemeClr val="tx2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ED6A973-DCB6-A7AE-8884-3C73B7577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38" y="0"/>
            <a:ext cx="0" cy="7620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1599" tIns="50799" rIns="101599" bIns="50799"/>
          <a:lstStyle/>
          <a:p>
            <a:pPr eaLnBrk="1" hangingPunct="1"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32" name="Straight Connector 8">
            <a:extLst>
              <a:ext uri="{FF2B5EF4-FFF2-40B4-BE49-F238E27FC236}">
                <a16:creationId xmlns:a16="http://schemas.microsoft.com/office/drawing/2014/main" id="{410A61B3-4027-E2C3-9CD5-2DABD8E7E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0138" y="0"/>
            <a:ext cx="0" cy="7620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1599" tIns="50799" rIns="101599" bIns="50799"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B4298-7F6E-07E2-29BF-F3D9C752AE4C}"/>
              </a:ext>
            </a:extLst>
          </p:cNvPr>
          <p:cNvSpPr/>
          <p:nvPr/>
        </p:nvSpPr>
        <p:spPr bwMode="auto">
          <a:xfrm>
            <a:off x="9821863" y="0"/>
            <a:ext cx="338137" cy="7620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34" name="Straight Connector 10">
            <a:extLst>
              <a:ext uri="{FF2B5EF4-FFF2-40B4-BE49-F238E27FC236}">
                <a16:creationId xmlns:a16="http://schemas.microsoft.com/office/drawing/2014/main" id="{921B87E6-25BE-D7C3-802D-B9AFE7421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0" y="0"/>
            <a:ext cx="0" cy="7620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01599" tIns="50799" rIns="101599" bIns="50799"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0F570C-5D55-1D80-6A38-2AD06DB3612D}"/>
              </a:ext>
            </a:extLst>
          </p:cNvPr>
          <p:cNvSpPr/>
          <p:nvPr/>
        </p:nvSpPr>
        <p:spPr>
          <a:xfrm>
            <a:off x="9063038" y="6350000"/>
            <a:ext cx="609600" cy="6096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599" tIns="50799" rIns="101599" bIns="50799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6530C16-0B98-1C68-A5DF-F511A89BE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2875" y="6370638"/>
            <a:ext cx="676275" cy="579437"/>
          </a:xfrm>
          <a:prstGeom prst="rect">
            <a:avLst/>
          </a:prstGeom>
        </p:spPr>
        <p:txBody>
          <a:bodyPr vert="horz" wrap="square" lIns="101599" tIns="50799" rIns="101599" bIns="5079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54751F8-60B5-4928-BBD2-D210678A7B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42" r:id="rId4"/>
    <p:sldLayoutId id="2147483843" r:id="rId5"/>
    <p:sldLayoutId id="2147483850" r:id="rId6"/>
    <p:sldLayoutId id="2147483844" r:id="rId7"/>
    <p:sldLayoutId id="2147483851" r:id="rId8"/>
    <p:sldLayoutId id="2147483852" r:id="rId9"/>
    <p:sldLayoutId id="2147483845" r:id="rId10"/>
    <p:sldLayoutId id="214748384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entury School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entury School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entury School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entury Schoolbook"/>
        </a:defRPr>
      </a:lvl5pPr>
      <a:lvl6pPr marL="4572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entury Schoolbook"/>
        </a:defRPr>
      </a:lvl6pPr>
      <a:lvl7pPr marL="9144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entury Schoolbook"/>
        </a:defRPr>
      </a:lvl7pPr>
      <a:lvl8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entury Schoolbook"/>
        </a:defRPr>
      </a:lvl8pPr>
      <a:lvl9pPr marL="1828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entury Schoolbook"/>
        </a:defRPr>
      </a:lvl9pPr>
    </p:titleStyle>
    <p:bodyStyle>
      <a:lvl1pPr marL="303213" indent="-303213" algn="l" rtl="0" eaLnBrk="0" fontAlgn="base" hangingPunct="0">
        <a:spcBef>
          <a:spcPts val="663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709613" indent="-3032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014413" indent="-20161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19213" indent="-20161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24013" indent="-20161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930381" indent="-203198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235178" indent="-203198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39975" indent="-203198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6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844772" indent="-203198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79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159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23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31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399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47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5596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6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.unimelb.edu.au/~moshe/620-261/dijkstra/dijkstra.html" TargetMode="External"/><Relationship Id="rId2" Type="http://schemas.openxmlformats.org/officeDocument/2006/relationships/hyperlink" Target="http://ocw.mit.edu/OcwWeb/Electrical-Engineering-and-Computer-Science/6-046JFall-2005/CourseHom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>
            <a:extLst>
              <a:ext uri="{FF2B5EF4-FFF2-40B4-BE49-F238E27FC236}">
                <a16:creationId xmlns:a16="http://schemas.microsoft.com/office/drawing/2014/main" id="{59BC830F-78BB-A672-7549-A4805BEA7CD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28688" y="2479675"/>
            <a:ext cx="8448675" cy="1223963"/>
          </a:xfrm>
        </p:spPr>
        <p:txBody>
          <a:bodyPr lIns="0" tIns="0" rIns="0" bIns="0" anchor="t"/>
          <a:lstStyle/>
          <a:p>
            <a:pPr algn="ctr"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800">
                <a:solidFill>
                  <a:srgbClr val="0B5394"/>
                </a:solidFill>
                <a:latin typeface="Arial" charset="0"/>
              </a:rPr>
              <a:t>Dijkstra's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FFADEB09-287C-8C25-A160-AA6AA2DFE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b="1" dirty="0">
                <a:solidFill>
                  <a:srgbClr val="0B5394"/>
                </a:solidFill>
                <a:latin typeface="Arial" charset="0"/>
              </a:rPr>
              <a:t>The author: </a:t>
            </a:r>
            <a:r>
              <a:rPr lang="en-US" sz="4300" b="1" dirty="0" err="1">
                <a:solidFill>
                  <a:srgbClr val="0B5394"/>
                </a:solidFill>
                <a:latin typeface="Arial" charset="0"/>
              </a:rPr>
              <a:t>Edsger</a:t>
            </a:r>
            <a:r>
              <a:rPr lang="en-US" sz="4300" b="1" dirty="0">
                <a:solidFill>
                  <a:srgbClr val="0B5394"/>
                </a:solidFill>
                <a:latin typeface="Arial" charset="0"/>
              </a:rPr>
              <a:t> </a:t>
            </a:r>
            <a:r>
              <a:rPr lang="en-US" sz="4300" b="1" dirty="0" err="1">
                <a:solidFill>
                  <a:srgbClr val="0B5394"/>
                </a:solidFill>
                <a:latin typeface="Arial" charset="0"/>
              </a:rPr>
              <a:t>Wybe</a:t>
            </a:r>
            <a:r>
              <a:rPr lang="en-US" sz="4300" b="1" dirty="0">
                <a:solidFill>
                  <a:srgbClr val="0B5394"/>
                </a:solidFill>
                <a:latin typeface="Arial" charset="0"/>
              </a:rPr>
              <a:t> </a:t>
            </a:r>
            <a:r>
              <a:rPr lang="en-US" sz="4300" b="1" dirty="0" err="1">
                <a:solidFill>
                  <a:srgbClr val="0B5394"/>
                </a:solidFill>
                <a:latin typeface="Arial" charset="0"/>
              </a:rPr>
              <a:t>Dijkstra</a:t>
            </a:r>
            <a:endParaRPr lang="en-US" sz="4300" b="1" dirty="0">
              <a:solidFill>
                <a:srgbClr val="0B5394"/>
              </a:solidFill>
              <a:latin typeface="Arial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909C3A97-985D-803C-2EA2-47A099837B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1800" y="1828800"/>
            <a:ext cx="9664700" cy="54864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"Computer Science is no more about computers than astronomy is about telescopes."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http://www.cs.utexas.edu/~EWD/ 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EC7FC1A9-5FA8-E09E-F19A-314FE188D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963" y="1143000"/>
            <a:ext cx="2859087" cy="381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>
            <a:extLst>
              <a:ext uri="{FF2B5EF4-FFF2-40B4-BE49-F238E27FC236}">
                <a16:creationId xmlns:a16="http://schemas.microsoft.com/office/drawing/2014/main" id="{8C9C1917-04BC-3114-03FD-F4AD86F54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b="1">
                <a:solidFill>
                  <a:srgbClr val="0B5394"/>
                </a:solidFill>
                <a:latin typeface="Arial" charset="0"/>
              </a:rPr>
              <a:t>Edsger Wybe Dijkstra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9D4EF5B-1336-028D-2B76-12BD4EEC81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6700" y="1435100"/>
            <a:ext cx="9671050" cy="5489575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May 11, 1930 – August 6, 2002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Received the 1972 A. M. Turing Award, widely considered the most prestigious award in computer science.  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The Schlumberger Centennial Chair of Computer Sciences at The University of Texas at Austin from 1984 until 2000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Made a strong case against use of the GOTO statement in programming languages and helped lead to its deprecation.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Known for his many essays on programming.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>
            <a:extLst>
              <a:ext uri="{FF2B5EF4-FFF2-40B4-BE49-F238E27FC236}">
                <a16:creationId xmlns:a16="http://schemas.microsoft.com/office/drawing/2014/main" id="{9BCFB833-CD3B-E81C-49F2-14C90207B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>
            <a:normAutofit fontScale="90000"/>
          </a:bodyPr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b="1">
                <a:solidFill>
                  <a:srgbClr val="3B62AF"/>
                </a:solidFill>
                <a:latin typeface="Arial" charset="0"/>
              </a:rPr>
              <a:t>Single-Source Shortest Path Problem 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8C89645A-388D-B866-0E7D-12CA267E373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55600" y="1600200"/>
            <a:ext cx="9664700" cy="54864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444444"/>
                </a:solidFill>
                <a:latin typeface="Arial" panose="020B0604020202020204" pitchFamily="34" charset="0"/>
              </a:rPr>
              <a:t>Single-Source Shortest Path Problem</a:t>
            </a:r>
            <a:r>
              <a:rPr lang="en-US" altLang="en-US" b="1">
                <a:solidFill>
                  <a:srgbClr val="444444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The problem of finding shortest paths from a source vertex </a:t>
            </a: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</a:rPr>
              <a:t>v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 to all other vertices in the graph.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CF4EB490-EBD3-8250-8E19-E10EF38BB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913" y="3429000"/>
            <a:ext cx="4230687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B9ED26B8-BFA9-5F0B-FDE1-1DBC2F79A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b="1">
                <a:solidFill>
                  <a:srgbClr val="3B62AF"/>
                </a:solidFill>
                <a:latin typeface="Arial" charset="0"/>
              </a:rPr>
              <a:t>Dijkstra's algorithm 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F5CF5349-131F-C6C9-EE39-DC30C5EBD34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44475" y="1301750"/>
            <a:ext cx="9331325" cy="5487988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444444"/>
                </a:solidFill>
                <a:latin typeface="Arial" panose="020B0604020202020204" pitchFamily="34" charset="0"/>
              </a:rPr>
              <a:t>Dijkstra's algorithm</a:t>
            </a:r>
            <a:r>
              <a:rPr lang="en-US" altLang="en-US" b="1">
                <a:solidFill>
                  <a:srgbClr val="444444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</a:t>
            </a:r>
            <a:r>
              <a:rPr lang="en-US" altLang="en-US" b="1">
                <a:solidFill>
                  <a:srgbClr val="444444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is a solution to the single-source shortest path problem in graph theory.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Works on both directed and undirected graphs. However, all edges must have nonnegative weights.</a:t>
            </a: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990000"/>
                </a:solidFill>
                <a:latin typeface="Arial" panose="020B0604020202020204" pitchFamily="34" charset="0"/>
              </a:rPr>
              <a:t>Approach: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 Greedy</a:t>
            </a: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990000"/>
                </a:solidFill>
                <a:latin typeface="Arial" panose="020B0604020202020204" pitchFamily="34" charset="0"/>
              </a:rPr>
              <a:t>Input: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 Weighted graph G={E,V} and source vertex </a:t>
            </a: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</a:rPr>
              <a:t>v</a:t>
            </a:r>
            <a:r>
              <a:rPr lang="en-US" altLang="en-US">
                <a:latin typeface="Constantia" panose="02030602050306030303" pitchFamily="18" charset="0"/>
              </a:rPr>
              <a:t>∈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V, such that all edge weights are nonnegative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990000"/>
                </a:solidFill>
                <a:latin typeface="Arial" panose="020B0604020202020204" pitchFamily="34" charset="0"/>
              </a:rPr>
              <a:t>Output: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 Lengths of shortest paths (or the shortest paths themselves) from a given source vertex</a:t>
            </a: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</a:rPr>
              <a:t> v</a:t>
            </a:r>
            <a:r>
              <a:rPr lang="en-US" altLang="en-US">
                <a:latin typeface="Constantia" panose="02030602050306030303" pitchFamily="18" charset="0"/>
              </a:rPr>
              <a:t>∈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V  to all other vertices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 b="1" u="sng">
              <a:solidFill>
                <a:srgbClr val="444444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>
            <a:extLst>
              <a:ext uri="{FF2B5EF4-FFF2-40B4-BE49-F238E27FC236}">
                <a16:creationId xmlns:a16="http://schemas.microsoft.com/office/drawing/2014/main" id="{50A15CC4-24FD-0EE5-F21C-EF0D0C87D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b="1" dirty="0" err="1">
                <a:solidFill>
                  <a:srgbClr val="3B62AF"/>
                </a:solidFill>
                <a:latin typeface="Arial" charset="0"/>
              </a:rPr>
              <a:t>Dijkstra's</a:t>
            </a:r>
            <a:r>
              <a:rPr lang="en-US" sz="4300" b="1" dirty="0">
                <a:solidFill>
                  <a:srgbClr val="3B62AF"/>
                </a:solidFill>
                <a:latin typeface="Arial" charset="0"/>
              </a:rPr>
              <a:t> algorithm - </a:t>
            </a:r>
            <a:r>
              <a:rPr lang="en-US" sz="4300" b="1" dirty="0" err="1">
                <a:solidFill>
                  <a:srgbClr val="3B62AF"/>
                </a:solidFill>
                <a:latin typeface="Arial" charset="0"/>
              </a:rPr>
              <a:t>Pseudocode</a:t>
            </a:r>
            <a:endParaRPr lang="en-US" sz="4300" b="1" dirty="0">
              <a:solidFill>
                <a:srgbClr val="3B62AF"/>
              </a:solidFill>
              <a:latin typeface="Arial" charset="0"/>
            </a:endParaRP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A3A64B66-0C95-DE87-496C-593E8C6ED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905000"/>
            <a:ext cx="92202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63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7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3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dist[s] ←0        		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(distance to source vertex is zero)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for  all 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v ∈ V–{s}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        do  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dist[v] ←∞ 	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(set all other distances to infinity)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S←∅ 			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(S, the set of visited vertices is initially empty)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Q←V 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 				(Q, the queue initially contains all vertices)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while 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Q ≠∅ 		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(while the queue is not empty)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do  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 u ← </a:t>
            </a: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mindistance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(Q,dist)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(select the element of Q with the min. distance)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    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  S←S∪{u} 		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(add u to list of visited vertices)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       for all 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v ∈ neighbors[u]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              do  if   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dist[v] &gt; dist[u] + w(u, v) 	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(if new shortest path found)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                         then      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dist[v] ←dist[u] + w(u, v)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(set new value of shortest path)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						</a:t>
            </a:r>
            <a:r>
              <a:rPr lang="en-US" altLang="en-US" sz="2000">
                <a:solidFill>
                  <a:srgbClr val="C00000"/>
                </a:solidFill>
                <a:latin typeface="Constantia" panose="02030602050306030303" pitchFamily="18" charset="0"/>
              </a:rPr>
              <a:t>(if desired, add traceback code)</a:t>
            </a:r>
            <a:endParaRPr lang="en-US" altLang="en-US" sz="2000">
              <a:solidFill>
                <a:srgbClr val="444444"/>
              </a:solidFill>
              <a:latin typeface="Constantia" panose="02030602050306030303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444444"/>
                </a:solidFill>
                <a:latin typeface="Constantia" panose="02030602050306030303" pitchFamily="18" charset="0"/>
              </a:rPr>
              <a:t>return </a:t>
            </a:r>
            <a:r>
              <a:rPr lang="en-US" altLang="en-US" sz="2000">
                <a:solidFill>
                  <a:srgbClr val="674EA7"/>
                </a:solidFill>
                <a:latin typeface="Constantia" panose="02030602050306030303" pitchFamily="18" charset="0"/>
              </a:rPr>
              <a:t>dist</a:t>
            </a:r>
            <a:endParaRPr lang="en-US" altLang="en-US" sz="2000">
              <a:solidFill>
                <a:srgbClr val="C00000"/>
              </a:solidFill>
              <a:latin typeface="Constantia" panose="02030602050306030303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674EA7"/>
              </a:solidFill>
              <a:latin typeface="Constantia" panose="0203060205030603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>
            <a:extLst>
              <a:ext uri="{FF2B5EF4-FFF2-40B4-BE49-F238E27FC236}">
                <a16:creationId xmlns:a16="http://schemas.microsoft.com/office/drawing/2014/main" id="{C2EF7E97-5484-D7E8-1BA0-FAF2B0435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16387" name="Picture 4">
            <a:extLst>
              <a:ext uri="{FF2B5EF4-FFF2-40B4-BE49-F238E27FC236}">
                <a16:creationId xmlns:a16="http://schemas.microsoft.com/office/drawing/2014/main" id="{DB0771C3-EA5D-568E-0C7A-6DBDDBE12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181100"/>
            <a:ext cx="914400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>
            <a:extLst>
              <a:ext uri="{FF2B5EF4-FFF2-40B4-BE49-F238E27FC236}">
                <a16:creationId xmlns:a16="http://schemas.microsoft.com/office/drawing/2014/main" id="{9C51C75B-A2A1-20D2-DEAE-4D02B5752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17411" name="Picture 5">
            <a:extLst>
              <a:ext uri="{FF2B5EF4-FFF2-40B4-BE49-F238E27FC236}">
                <a16:creationId xmlns:a16="http://schemas.microsoft.com/office/drawing/2014/main" id="{10CE8E8B-F69B-DBAC-C6A7-4AE4B9339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838200"/>
            <a:ext cx="879157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>
            <a:extLst>
              <a:ext uri="{FF2B5EF4-FFF2-40B4-BE49-F238E27FC236}">
                <a16:creationId xmlns:a16="http://schemas.microsoft.com/office/drawing/2014/main" id="{53BC1310-3296-881E-7C38-00300E6C1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18435" name="Picture 5">
            <a:extLst>
              <a:ext uri="{FF2B5EF4-FFF2-40B4-BE49-F238E27FC236}">
                <a16:creationId xmlns:a16="http://schemas.microsoft.com/office/drawing/2014/main" id="{0AF1CB5A-50B4-5A3E-956E-742FB0B9A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009650"/>
            <a:ext cx="91630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>
            <a:extLst>
              <a:ext uri="{FF2B5EF4-FFF2-40B4-BE49-F238E27FC236}">
                <a16:creationId xmlns:a16="http://schemas.microsoft.com/office/drawing/2014/main" id="{BE6367B9-36E3-A4BE-A38B-4DC12984E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19459" name="Picture 5">
            <a:extLst>
              <a:ext uri="{FF2B5EF4-FFF2-40B4-BE49-F238E27FC236}">
                <a16:creationId xmlns:a16="http://schemas.microsoft.com/office/drawing/2014/main" id="{E4126DB8-F7E4-E96B-D8DF-FD5FA7653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066800"/>
            <a:ext cx="91630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8C25816B-18FB-F3B8-82C9-2D267F64E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0D11134A-5EAF-39EA-FC68-BD1BFCC84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1009650"/>
            <a:ext cx="91630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>
            <a:extLst>
              <a:ext uri="{FF2B5EF4-FFF2-40B4-BE49-F238E27FC236}">
                <a16:creationId xmlns:a16="http://schemas.microsoft.com/office/drawing/2014/main" id="{3802D713-3A4D-9F50-8D22-3FAD90370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21507" name="Picture 5">
            <a:extLst>
              <a:ext uri="{FF2B5EF4-FFF2-40B4-BE49-F238E27FC236}">
                <a16:creationId xmlns:a16="http://schemas.microsoft.com/office/drawing/2014/main" id="{DC0D59FD-C628-7576-FA65-472E2ACDD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1009650"/>
            <a:ext cx="91630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>
            <a:extLst>
              <a:ext uri="{FF2B5EF4-FFF2-40B4-BE49-F238E27FC236}">
                <a16:creationId xmlns:a16="http://schemas.microsoft.com/office/drawing/2014/main" id="{85B6F30D-1A6A-274D-7C70-AC4780BF7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22531" name="Picture 5">
            <a:extLst>
              <a:ext uri="{FF2B5EF4-FFF2-40B4-BE49-F238E27FC236}">
                <a16:creationId xmlns:a16="http://schemas.microsoft.com/office/drawing/2014/main" id="{E86EC4D2-7BF4-DC2C-A9A7-5FC32132A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190625"/>
            <a:ext cx="91630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597BA61E-CEC0-639F-DF95-BCBD16E57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23555" name="Picture 5">
            <a:extLst>
              <a:ext uri="{FF2B5EF4-FFF2-40B4-BE49-F238E27FC236}">
                <a16:creationId xmlns:a16="http://schemas.microsoft.com/office/drawing/2014/main" id="{546B0B6E-C6A9-C371-B6DC-2704D3E6C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190625"/>
            <a:ext cx="91630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35E30104-0856-5E2A-1DE7-F47EE31BB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24579" name="Picture 5">
            <a:extLst>
              <a:ext uri="{FF2B5EF4-FFF2-40B4-BE49-F238E27FC236}">
                <a16:creationId xmlns:a16="http://schemas.microsoft.com/office/drawing/2014/main" id="{87C3BC74-53F5-2023-AD4B-801FCE78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190625"/>
            <a:ext cx="91630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C10BEDD0-464B-AA96-DE5D-009F8A6C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Dijkstra Animated Example</a:t>
            </a:r>
          </a:p>
        </p:txBody>
      </p:sp>
      <p:pic>
        <p:nvPicPr>
          <p:cNvPr id="25603" name="Picture 5">
            <a:extLst>
              <a:ext uri="{FF2B5EF4-FFF2-40B4-BE49-F238E27FC236}">
                <a16:creationId xmlns:a16="http://schemas.microsoft.com/office/drawing/2014/main" id="{6FC849D0-7B9D-3109-94B8-111E77C2E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190625"/>
            <a:ext cx="9163050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46715692-E467-074B-8A9E-E2CF53528B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Implementations and Running Times    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21045FB-CE20-D283-B7EF-48F06752C7A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7813" y="1447800"/>
            <a:ext cx="9221787" cy="5489575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The simplest implementation is to store vertices in an array or linked list. This will produce a running time of 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 		O(|V|^2 + |E|)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For sparse graphs, or graphs with very few edges and many nodes, it can be implemented more efficiently storing the graph in an adjacency list using a binary heap or priority queue. This will produce a running time of</a:t>
            </a: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</a:rPr>
              <a:t>		O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((|</a:t>
            </a: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</a:rPr>
              <a:t>E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|+|</a:t>
            </a: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</a:rPr>
              <a:t>V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|) log |</a:t>
            </a: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</a:rPr>
              <a:t>V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|)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>
            <a:extLst>
              <a:ext uri="{FF2B5EF4-FFF2-40B4-BE49-F238E27FC236}">
                <a16:creationId xmlns:a16="http://schemas.microsoft.com/office/drawing/2014/main" id="{05A03A63-FB99-11DA-F0DC-5B3D18245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dirty="0" err="1">
                <a:solidFill>
                  <a:srgbClr val="3B62AF"/>
                </a:solidFill>
                <a:latin typeface="Arial" charset="0"/>
              </a:rPr>
              <a:t>Dijkstra's</a:t>
            </a:r>
            <a:r>
              <a:rPr lang="en-US" sz="4300" dirty="0">
                <a:solidFill>
                  <a:srgbClr val="3B62AF"/>
                </a:solidFill>
                <a:latin typeface="Arial" charset="0"/>
              </a:rPr>
              <a:t> Algorithm - Why It Works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5A581A7-D70E-3F4E-C6A1-998BA0F4A7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2250" y="1917700"/>
            <a:ext cx="9429750" cy="3721100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 As with all greedy algorithms, we need to make sure that it is a correct algorithm (e.g., it </a:t>
            </a:r>
            <a:r>
              <a:rPr lang="en-US" altLang="en-US" i="1">
                <a:solidFill>
                  <a:srgbClr val="444444"/>
                </a:solidFill>
                <a:latin typeface="Arial" panose="020B0604020202020204" pitchFamily="34" charset="0"/>
              </a:rPr>
              <a:t>always </a:t>
            </a: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returns the right solution if it is given correct input).</a:t>
            </a: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</a:pPr>
            <a:endParaRPr lang="en-US" altLang="en-US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 A formal proof would take longer than this presentation, but we can understand how the argument works intuitively.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3ED33-62FC-8549-1C4C-110E5C31B2F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8000" y="1290638"/>
            <a:ext cx="8297863" cy="5872162"/>
          </a:xfrm>
        </p:spPr>
        <p:txBody>
          <a:bodyPr>
            <a:normAutofit fontScale="92500" lnSpcReduction="10000"/>
          </a:bodyPr>
          <a:lstStyle/>
          <a:p>
            <a:pPr marL="304797" indent="-304797" eaLnBrk="1" fontAlgn="auto" hangingPunct="1">
              <a:spcBef>
                <a:spcPts val="667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/>
              <a:t>To understand how it works, we’ll go over the previous example again. However, we need two mathematical results first:</a:t>
            </a:r>
          </a:p>
          <a:p>
            <a:pPr marL="304797" indent="-304797" eaLnBrk="1" fontAlgn="auto" hangingPunct="1">
              <a:spcBef>
                <a:spcPts val="667"/>
              </a:spcBef>
              <a:spcAft>
                <a:spcPts val="0"/>
              </a:spcAft>
              <a:buFont typeface="Wingdings"/>
              <a:buChar char=""/>
              <a:defRPr/>
            </a:pPr>
            <a:endParaRPr lang="en-US" dirty="0"/>
          </a:p>
          <a:p>
            <a:pPr marL="304797" indent="-304797" eaLnBrk="1" fontAlgn="auto" hangingPunct="1">
              <a:spcBef>
                <a:spcPts val="667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n-US" b="1" dirty="0"/>
              <a:t>Lemma 1</a:t>
            </a:r>
            <a:r>
              <a:rPr lang="en-US" dirty="0"/>
              <a:t>: Triangle inequality</a:t>
            </a:r>
            <a:br>
              <a:rPr lang="en-US" dirty="0"/>
            </a:br>
            <a:r>
              <a:rPr lang="en-US" dirty="0"/>
              <a:t>If </a:t>
            </a:r>
            <a:r>
              <a:rPr lang="el-GR" dirty="0">
                <a:latin typeface="Calibri"/>
              </a:rPr>
              <a:t>δ</a:t>
            </a:r>
            <a:r>
              <a:rPr lang="es-MX" dirty="0">
                <a:latin typeface="Calibri"/>
              </a:rPr>
              <a:t>(</a:t>
            </a:r>
            <a:r>
              <a:rPr lang="es-MX" dirty="0" err="1">
                <a:latin typeface="Calibri"/>
              </a:rPr>
              <a:t>u,v</a:t>
            </a:r>
            <a:r>
              <a:rPr lang="es-MX" dirty="0">
                <a:latin typeface="Calibri"/>
              </a:rPr>
              <a:t>) </a:t>
            </a:r>
            <a:r>
              <a:rPr lang="es-MX" dirty="0" err="1">
                <a:latin typeface="Calibri"/>
              </a:rPr>
              <a:t>is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the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shortest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path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length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between</a:t>
            </a:r>
            <a:r>
              <a:rPr lang="es-MX" dirty="0">
                <a:latin typeface="Calibri"/>
              </a:rPr>
              <a:t> u and v,</a:t>
            </a:r>
            <a:br>
              <a:rPr lang="es-MX" dirty="0">
                <a:latin typeface="Calibri"/>
              </a:rPr>
            </a:br>
            <a:r>
              <a:rPr lang="el-GR" dirty="0">
                <a:latin typeface="Calibri"/>
              </a:rPr>
              <a:t> δ</a:t>
            </a:r>
            <a:r>
              <a:rPr lang="es-MX" dirty="0">
                <a:latin typeface="Calibri"/>
              </a:rPr>
              <a:t>(</a:t>
            </a:r>
            <a:r>
              <a:rPr lang="es-MX" dirty="0" err="1">
                <a:latin typeface="Calibri"/>
              </a:rPr>
              <a:t>u,v</a:t>
            </a:r>
            <a:r>
              <a:rPr lang="es-MX" dirty="0">
                <a:latin typeface="Calibri"/>
              </a:rPr>
              <a:t>) ≤ </a:t>
            </a:r>
            <a:r>
              <a:rPr lang="el-GR" dirty="0">
                <a:latin typeface="Calibri"/>
              </a:rPr>
              <a:t>δ</a:t>
            </a:r>
            <a:r>
              <a:rPr lang="es-MX" dirty="0">
                <a:latin typeface="Calibri"/>
              </a:rPr>
              <a:t>(</a:t>
            </a:r>
            <a:r>
              <a:rPr lang="es-MX" dirty="0" err="1">
                <a:latin typeface="Calibri"/>
              </a:rPr>
              <a:t>u,x</a:t>
            </a:r>
            <a:r>
              <a:rPr lang="es-MX" dirty="0">
                <a:latin typeface="Calibri"/>
              </a:rPr>
              <a:t>) + </a:t>
            </a:r>
            <a:r>
              <a:rPr lang="el-GR" dirty="0">
                <a:latin typeface="Calibri"/>
              </a:rPr>
              <a:t>δ</a:t>
            </a:r>
            <a:r>
              <a:rPr lang="es-MX" dirty="0">
                <a:latin typeface="Calibri"/>
              </a:rPr>
              <a:t>(</a:t>
            </a:r>
            <a:r>
              <a:rPr lang="es-MX" dirty="0" err="1">
                <a:latin typeface="Calibri"/>
              </a:rPr>
              <a:t>x,v</a:t>
            </a:r>
            <a:r>
              <a:rPr lang="es-MX" dirty="0">
                <a:latin typeface="Calibri"/>
              </a:rPr>
              <a:t>) </a:t>
            </a:r>
          </a:p>
          <a:p>
            <a:pPr marL="304797" indent="-304797" eaLnBrk="1" fontAlgn="auto" hangingPunct="1">
              <a:spcBef>
                <a:spcPts val="667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n-US" b="1" dirty="0"/>
              <a:t>Lemma 2</a:t>
            </a:r>
            <a:r>
              <a:rPr lang="en-US" dirty="0"/>
              <a:t>: </a:t>
            </a:r>
            <a:br>
              <a:rPr lang="en-US" dirty="0"/>
            </a:b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subpath</a:t>
            </a:r>
            <a:r>
              <a:rPr lang="es-MX" dirty="0"/>
              <a:t> of </a:t>
            </a:r>
            <a:r>
              <a:rPr lang="es-MX" dirty="0" err="1"/>
              <a:t>any</a:t>
            </a:r>
            <a:r>
              <a:rPr lang="es-MX" dirty="0"/>
              <a:t> </a:t>
            </a:r>
            <a:r>
              <a:rPr lang="es-MX" dirty="0" err="1"/>
              <a:t>shortest</a:t>
            </a:r>
            <a:r>
              <a:rPr lang="es-MX" dirty="0"/>
              <a:t> </a:t>
            </a:r>
            <a:r>
              <a:rPr lang="es-MX" dirty="0" err="1"/>
              <a:t>path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itself</a:t>
            </a:r>
            <a:r>
              <a:rPr lang="es-MX" dirty="0"/>
              <a:t> a </a:t>
            </a:r>
            <a:r>
              <a:rPr lang="es-MX" dirty="0" err="1"/>
              <a:t>shortest</a:t>
            </a:r>
            <a:r>
              <a:rPr lang="es-MX" dirty="0"/>
              <a:t> </a:t>
            </a:r>
            <a:r>
              <a:rPr lang="es-MX" dirty="0" err="1"/>
              <a:t>path</a:t>
            </a:r>
            <a:r>
              <a:rPr lang="es-MX" dirty="0"/>
              <a:t>.</a:t>
            </a:r>
          </a:p>
          <a:p>
            <a:pPr marL="304797" indent="-304797" eaLnBrk="1" fontAlgn="auto" hangingPunct="1">
              <a:spcBef>
                <a:spcPts val="667"/>
              </a:spcBef>
              <a:spcAft>
                <a:spcPts val="0"/>
              </a:spcAft>
              <a:buFont typeface="Wingdings"/>
              <a:buChar char=""/>
              <a:defRPr/>
            </a:pPr>
            <a:endParaRPr lang="es-MX" dirty="0">
              <a:latin typeface="Calibri"/>
            </a:endParaRPr>
          </a:p>
          <a:p>
            <a:pPr marL="304797" indent="-304797" eaLnBrk="1" fontAlgn="auto" hangingPunct="1">
              <a:spcBef>
                <a:spcPts val="667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s-MX" dirty="0" err="1">
                <a:latin typeface="Calibri"/>
              </a:rPr>
              <a:t>The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key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is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to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understand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why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we</a:t>
            </a:r>
            <a:r>
              <a:rPr lang="es-MX" dirty="0">
                <a:latin typeface="Calibri"/>
              </a:rPr>
              <a:t> can </a:t>
            </a:r>
            <a:r>
              <a:rPr lang="es-MX" dirty="0" err="1">
                <a:latin typeface="Calibri"/>
              </a:rPr>
              <a:t>claim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that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anytime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we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put</a:t>
            </a:r>
            <a:r>
              <a:rPr lang="es-MX" dirty="0">
                <a:latin typeface="Calibri"/>
              </a:rPr>
              <a:t> a new </a:t>
            </a:r>
            <a:r>
              <a:rPr lang="es-MX" dirty="0" err="1">
                <a:latin typeface="Calibri"/>
              </a:rPr>
              <a:t>vertex</a:t>
            </a:r>
            <a:r>
              <a:rPr lang="es-MX" dirty="0">
                <a:latin typeface="Calibri"/>
              </a:rPr>
              <a:t> in S, </a:t>
            </a:r>
            <a:r>
              <a:rPr lang="es-MX" dirty="0" err="1">
                <a:latin typeface="Calibri"/>
              </a:rPr>
              <a:t>we</a:t>
            </a:r>
            <a:r>
              <a:rPr lang="es-MX" dirty="0">
                <a:latin typeface="Calibri"/>
              </a:rPr>
              <a:t> can </a:t>
            </a:r>
            <a:r>
              <a:rPr lang="es-MX" dirty="0" err="1">
                <a:latin typeface="Calibri"/>
              </a:rPr>
              <a:t>say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that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we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already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know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the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shortest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path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to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it</a:t>
            </a:r>
            <a:r>
              <a:rPr lang="es-MX" dirty="0">
                <a:latin typeface="Calibri"/>
              </a:rPr>
              <a:t>.</a:t>
            </a:r>
          </a:p>
          <a:p>
            <a:pPr marL="304797" indent="-304797" eaLnBrk="1" fontAlgn="auto" hangingPunct="1">
              <a:spcBef>
                <a:spcPts val="667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s-MX" dirty="0" err="1">
                <a:latin typeface="Calibri"/>
              </a:rPr>
              <a:t>Now</a:t>
            </a:r>
            <a:r>
              <a:rPr lang="es-MX" dirty="0">
                <a:latin typeface="Calibri"/>
              </a:rPr>
              <a:t>, back </a:t>
            </a:r>
            <a:r>
              <a:rPr lang="es-MX" dirty="0" err="1">
                <a:latin typeface="Calibri"/>
              </a:rPr>
              <a:t>to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the</a:t>
            </a:r>
            <a:r>
              <a:rPr lang="es-MX" dirty="0">
                <a:latin typeface="Calibri"/>
              </a:rPr>
              <a:t> </a:t>
            </a:r>
            <a:r>
              <a:rPr lang="es-MX" dirty="0" err="1">
                <a:latin typeface="Calibri"/>
              </a:rPr>
              <a:t>example</a:t>
            </a:r>
            <a:r>
              <a:rPr lang="es-MX" dirty="0">
                <a:latin typeface="Calibri"/>
              </a:rPr>
              <a:t>…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023799-34B9-6E31-0CB8-47A3FA792664}"/>
              </a:ext>
            </a:extLst>
          </p:cNvPr>
          <p:cNvSpPr txBox="1">
            <a:spLocks noChangeArrowheads="1"/>
          </p:cNvSpPr>
          <p:nvPr/>
        </p:nvSpPr>
        <p:spPr>
          <a:xfrm>
            <a:off x="247650" y="304800"/>
            <a:ext cx="9664700" cy="914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cap="small" dirty="0" err="1">
                <a:solidFill>
                  <a:srgbClr val="3B62AF"/>
                </a:solidFill>
                <a:latin typeface="Arial" charset="0"/>
                <a:ea typeface="+mj-ea"/>
                <a:cs typeface="+mj-cs"/>
              </a:rPr>
              <a:t>Dijkstra's</a:t>
            </a:r>
            <a:r>
              <a:rPr lang="en-US" sz="4300" cap="small" dirty="0">
                <a:solidFill>
                  <a:srgbClr val="3B62AF"/>
                </a:solidFill>
                <a:latin typeface="Arial" charset="0"/>
                <a:ea typeface="+mj-ea"/>
                <a:cs typeface="+mj-cs"/>
              </a:rPr>
              <a:t> Algorithm - Why It Works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AC378543-64AD-6326-BC86-45921910E2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8000" y="1778000"/>
            <a:ext cx="8297863" cy="5414963"/>
          </a:xfrm>
        </p:spPr>
        <p:txBody>
          <a:bodyPr/>
          <a:lstStyle/>
          <a:p>
            <a:pPr eaLnBrk="1" hangingPunct="1"/>
            <a:r>
              <a:rPr lang="en-US" altLang="en-US"/>
              <a:t>As mentioned, Dijkstra’s algorithm calculates the shortest path to every vertex. </a:t>
            </a:r>
          </a:p>
          <a:p>
            <a:pPr eaLnBrk="1" hangingPunct="1"/>
            <a:r>
              <a:rPr lang="en-US" altLang="en-US"/>
              <a:t>However, it is about as computationally expensive to calculate the shortest path from vertex </a:t>
            </a:r>
            <a:r>
              <a:rPr lang="en-US" altLang="en-US" i="1"/>
              <a:t>u </a:t>
            </a:r>
            <a:r>
              <a:rPr lang="en-US" altLang="en-US"/>
              <a:t>to every vertex using Dijkstra’s as it is to calculate the shortest path to some particular vertex </a:t>
            </a:r>
            <a:r>
              <a:rPr lang="en-US" altLang="en-US" i="1"/>
              <a:t>v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Therefore, anytime we want to know the optimal path to some other vertex from a determined origin, we can use Dijkstra’s algorithm.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7E52B1-F44C-F0DA-C296-66A5872642EC}"/>
              </a:ext>
            </a:extLst>
          </p:cNvPr>
          <p:cNvSpPr txBox="1">
            <a:spLocks noChangeArrowheads="1"/>
          </p:cNvSpPr>
          <p:nvPr/>
        </p:nvSpPr>
        <p:spPr>
          <a:xfrm>
            <a:off x="247650" y="304800"/>
            <a:ext cx="9664700" cy="914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cap="small" dirty="0" err="1">
                <a:solidFill>
                  <a:srgbClr val="3B62AF"/>
                </a:solidFill>
                <a:latin typeface="Arial" charset="0"/>
                <a:ea typeface="+mj-ea"/>
                <a:cs typeface="+mj-cs"/>
              </a:rPr>
              <a:t>Dijkstra's</a:t>
            </a:r>
            <a:r>
              <a:rPr lang="en-US" sz="4300" cap="small" dirty="0">
                <a:solidFill>
                  <a:srgbClr val="3B62AF"/>
                </a:solidFill>
                <a:latin typeface="Arial" charset="0"/>
                <a:ea typeface="+mj-ea"/>
                <a:cs typeface="+mj-cs"/>
              </a:rPr>
              <a:t> Algorithm - Why use it?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>
            <a:extLst>
              <a:ext uri="{FF2B5EF4-FFF2-40B4-BE49-F238E27FC236}">
                <a16:creationId xmlns:a16="http://schemas.microsoft.com/office/drawing/2014/main" id="{F0F46012-A093-40E2-8E9A-E312FE35B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048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>
                <a:solidFill>
                  <a:srgbClr val="3B62AF"/>
                </a:solidFill>
                <a:latin typeface="Arial" charset="0"/>
              </a:rPr>
              <a:t>Applications of Dijkstra's Algorithm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4DD4F9D-39D0-C08A-EA51-10BDFDCD519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44475" y="1200150"/>
            <a:ext cx="9671050" cy="5489575"/>
          </a:xfrm>
        </p:spPr>
        <p:txBody>
          <a:bodyPr lIns="0" tIns="0" rIns="0" bIns="0"/>
          <a:lstStyle/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Traffic Information Systems are most prominent use  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Mapping (Map Quest, Google Maps) </a:t>
            </a:r>
            <a:endParaRPr lang="en-US" altLang="en-US"/>
          </a:p>
          <a:p>
            <a:pPr marL="0" indent="0"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444444"/>
                </a:solidFill>
                <a:latin typeface="Arial" panose="020B0604020202020204" pitchFamily="34" charset="0"/>
              </a:rPr>
              <a:t>- Routing Systems</a:t>
            </a: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E320FB9E-127E-9310-9FAE-76EEF426C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2670175"/>
            <a:ext cx="3792537" cy="369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>
            <a:extLst>
              <a:ext uri="{FF2B5EF4-FFF2-40B4-BE49-F238E27FC236}">
                <a16:creationId xmlns:a16="http://schemas.microsoft.com/office/drawing/2014/main" id="{06603BBB-7834-21BB-D66A-1555CAF13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613" y="2300288"/>
            <a:ext cx="4178300" cy="454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C210B7C7-96EC-0DD8-7654-B3CFF2E7F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9400" y="304800"/>
            <a:ext cx="9652000" cy="12700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dirty="0">
                <a:solidFill>
                  <a:srgbClr val="3B62AF"/>
                </a:solidFill>
                <a:latin typeface="Arial" charset="0"/>
              </a:rPr>
              <a:t>Applications of </a:t>
            </a:r>
            <a:r>
              <a:rPr lang="en-US" sz="4300" dirty="0" err="1">
                <a:solidFill>
                  <a:srgbClr val="3B62AF"/>
                </a:solidFill>
                <a:latin typeface="Arial" charset="0"/>
              </a:rPr>
              <a:t>Dijkstra's</a:t>
            </a:r>
            <a:r>
              <a:rPr lang="en-US" sz="4300" dirty="0">
                <a:solidFill>
                  <a:srgbClr val="3B62AF"/>
                </a:solidFill>
                <a:latin typeface="Arial" charset="0"/>
              </a:rPr>
              <a:t> Algorithm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0A118E04-9EF9-9E86-29DF-FC854C64E78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55600" y="1447800"/>
            <a:ext cx="4648200" cy="5638800"/>
          </a:xfrm>
        </p:spPr>
        <p:txBody>
          <a:bodyPr lIns="0" tIns="0" rIns="0" bIns="0">
            <a:normAutofit fontScale="92500" lnSpcReduction="20000"/>
          </a:bodyPr>
          <a:lstStyle/>
          <a:p>
            <a:pPr marL="0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>
                <a:solidFill>
                  <a:srgbClr val="444444"/>
                </a:solidFill>
                <a:latin typeface="Arial" charset="0"/>
              </a:rPr>
              <a:t> One particularly relevant application: epidemiology</a:t>
            </a:r>
          </a:p>
          <a:p>
            <a:pPr marL="0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"/>
              <a:defRPr/>
            </a:pPr>
            <a:endParaRPr lang="en-US" dirty="0">
              <a:solidFill>
                <a:srgbClr val="444444"/>
              </a:solidFill>
              <a:latin typeface="Arial" charset="0"/>
            </a:endParaRPr>
          </a:p>
          <a:p>
            <a:pPr marL="0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>
                <a:solidFill>
                  <a:srgbClr val="444444"/>
                </a:solidFill>
                <a:latin typeface="Arial" charset="0"/>
              </a:rPr>
              <a:t> Prof. Lauren Meyers (Biology Dept.) uses networks to model the spread of infectious diseases and design prevention and response strategies.</a:t>
            </a:r>
          </a:p>
          <a:p>
            <a:pPr marL="0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"/>
              <a:defRPr/>
            </a:pPr>
            <a:endParaRPr lang="en-US" dirty="0">
              <a:solidFill>
                <a:srgbClr val="444444"/>
              </a:solidFill>
              <a:latin typeface="Arial" charset="0"/>
            </a:endParaRPr>
          </a:p>
          <a:p>
            <a:pPr marL="406400" lvl="1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>
                <a:solidFill>
                  <a:srgbClr val="444444"/>
                </a:solidFill>
                <a:latin typeface="Arial" charset="0"/>
              </a:rPr>
              <a:t> Vertices represent individuals, and edges their possible contacts. It is useful to calculate how a particular individual is connected to others.</a:t>
            </a:r>
          </a:p>
          <a:p>
            <a:pPr marL="406400" lvl="1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None/>
              <a:defRPr/>
            </a:pPr>
            <a:endParaRPr lang="en-US" dirty="0">
              <a:solidFill>
                <a:srgbClr val="444444"/>
              </a:solidFill>
              <a:latin typeface="Arial" charset="0"/>
            </a:endParaRPr>
          </a:p>
          <a:p>
            <a:pPr marL="406400" lvl="1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"/>
              <a:defRPr/>
            </a:pPr>
            <a:r>
              <a:rPr lang="en-US" dirty="0">
                <a:solidFill>
                  <a:srgbClr val="444444"/>
                </a:solidFill>
                <a:latin typeface="Arial" charset="0"/>
              </a:rPr>
              <a:t> Knowing the shortest path lengths to other individuals can be a relevant indicator of the potential of a particular individual to infect others.</a:t>
            </a:r>
          </a:p>
          <a:p>
            <a:pPr marL="0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"/>
              <a:defRPr/>
            </a:pPr>
            <a:endParaRPr lang="en-US" dirty="0">
              <a:solidFill>
                <a:srgbClr val="444444"/>
              </a:solidFill>
              <a:latin typeface="Arial" charset="0"/>
            </a:endParaRPr>
          </a:p>
          <a:p>
            <a:pPr marL="0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"/>
              <a:defRPr/>
            </a:pPr>
            <a:endParaRPr lang="en-US" dirty="0">
              <a:solidFill>
                <a:srgbClr val="444444"/>
              </a:solidFill>
              <a:latin typeface="Arial" charset="0"/>
            </a:endParaRPr>
          </a:p>
          <a:p>
            <a:pPr marL="0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dirty="0">
              <a:solidFill>
                <a:srgbClr val="444444"/>
              </a:solidFill>
              <a:latin typeface="Arial" charset="0"/>
            </a:endParaRPr>
          </a:p>
          <a:p>
            <a:pPr marL="0" indent="0" eaLnBrk="1" fontAlgn="auto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dirty="0">
              <a:solidFill>
                <a:srgbClr val="444444"/>
              </a:solidFill>
              <a:latin typeface="Arial" charset="0"/>
            </a:endParaRPr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5BE2E8CA-544E-D27C-CD6C-40D12393A766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752600"/>
            <a:ext cx="4064000" cy="42354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270A84F7-FA2E-DF98-FB1A-79C3520901B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8000" y="1778000"/>
            <a:ext cx="8297863" cy="5414963"/>
          </a:xfrm>
        </p:spPr>
        <p:txBody>
          <a:bodyPr/>
          <a:lstStyle/>
          <a:p>
            <a:pPr eaLnBrk="1" hangingPunct="1"/>
            <a:r>
              <a:rPr lang="en-US" altLang="en-US" sz="2000"/>
              <a:t>Dijkstra’s original paper:</a:t>
            </a:r>
            <a:br>
              <a:rPr lang="en-US" altLang="en-US" sz="2000"/>
            </a:br>
            <a:r>
              <a:rPr lang="en-US" altLang="en-US" sz="2000" u="sng"/>
              <a:t>E. W. Dijkstra</a:t>
            </a:r>
            <a:r>
              <a:rPr lang="en-US" altLang="en-US" sz="2000"/>
              <a:t>. (1959) </a:t>
            </a:r>
            <a:r>
              <a:rPr lang="en-US" altLang="en-US" sz="2000" i="1"/>
              <a:t>A Note on Two Problems in Connection with Graphs.</a:t>
            </a:r>
            <a:r>
              <a:rPr lang="en-US" altLang="en-US" sz="2000"/>
              <a:t> Numerische Mathematik, 1. 269-271. </a:t>
            </a:r>
          </a:p>
          <a:p>
            <a:pPr eaLnBrk="1" hangingPunct="1"/>
            <a:r>
              <a:rPr lang="en-US" altLang="en-US" sz="2000"/>
              <a:t>MIT OpenCourseware, 6.046J Introduction to Algorithms.</a:t>
            </a:r>
            <a:br>
              <a:rPr lang="en-US" altLang="en-US" sz="2000"/>
            </a:br>
            <a:r>
              <a:rPr lang="en-US" altLang="en-US" sz="2000"/>
              <a:t>&lt; </a:t>
            </a:r>
            <a:r>
              <a:rPr lang="en-US" altLang="en-US" sz="2000">
                <a:hlinkClick r:id="rId2"/>
              </a:rPr>
              <a:t>http://ocw.mit.edu/OcwWeb/Electrical-Engineering-and-Computer-Science/6-046JFall-2005/CourseHome/</a:t>
            </a:r>
            <a:r>
              <a:rPr lang="en-US" altLang="en-US" sz="2000"/>
              <a:t>&gt; Accessed 4/25/09</a:t>
            </a:r>
          </a:p>
          <a:p>
            <a:pPr eaLnBrk="1" hangingPunct="1"/>
            <a:r>
              <a:rPr lang="en-US" altLang="en-US" sz="2000" u="sng"/>
              <a:t>Meyers, L.A.</a:t>
            </a:r>
            <a:r>
              <a:rPr lang="en-US" altLang="en-US" sz="2000"/>
              <a:t> (2007) Contact network epidemiology: Bond percolation applied to infectious disease prediction and control. </a:t>
            </a:r>
            <a:r>
              <a:rPr lang="en-US" altLang="en-US" sz="2000" i="1"/>
              <a:t>Bulletin of the American Mathematical Society</a:t>
            </a:r>
            <a:r>
              <a:rPr lang="en-US" altLang="en-US" sz="2000"/>
              <a:t> </a:t>
            </a:r>
            <a:r>
              <a:rPr lang="en-US" altLang="en-US" sz="2000" b="1"/>
              <a:t>44</a:t>
            </a:r>
            <a:r>
              <a:rPr lang="en-US" altLang="en-US" sz="2000"/>
              <a:t>: 63-86.</a:t>
            </a:r>
          </a:p>
          <a:p>
            <a:pPr eaLnBrk="1" hangingPunct="1"/>
            <a:r>
              <a:rPr lang="en-US" altLang="en-US" sz="2000"/>
              <a:t>Department of Mathematics, University of Melbourne. </a:t>
            </a:r>
            <a:r>
              <a:rPr lang="en-US" altLang="en-US" sz="2000" i="1"/>
              <a:t>Dijkstra’s Algorithm.</a:t>
            </a:r>
            <a:br>
              <a:rPr lang="en-US" altLang="en-US" sz="2000" i="1"/>
            </a:br>
            <a:r>
              <a:rPr lang="en-US" altLang="en-US" sz="2000" i="1"/>
              <a:t>&lt;</a:t>
            </a:r>
            <a:r>
              <a:rPr lang="en-US" altLang="en-US" sz="2000">
                <a:hlinkClick r:id="rId3"/>
              </a:rPr>
              <a:t>http://www.ms.unimelb.edu.au/~moshe/620-261/dijkstra/dijkstra.html</a:t>
            </a:r>
            <a:r>
              <a:rPr lang="en-US" altLang="en-US" sz="2000"/>
              <a:t> &gt; Accessed 4/25/09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8EF3B66-2617-717D-3EF1-F9AC5E346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81000"/>
            <a:ext cx="9664700" cy="914400"/>
          </a:xfrm>
        </p:spPr>
        <p:txBody>
          <a:bodyPr lIns="0" tIns="0" rIns="0" bIns="0" anchor="t"/>
          <a:lstStyle/>
          <a:p>
            <a:pPr eaLnBrk="1" fontAlgn="auto" hangingPunct="1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4300" dirty="0">
                <a:solidFill>
                  <a:srgbClr val="3B62AF"/>
                </a:solidFill>
                <a:latin typeface="Arial" charset="0"/>
              </a:rPr>
              <a:t>References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1105</TotalTime>
  <Words>1098</Words>
  <Application>Microsoft Office PowerPoint</Application>
  <PresentationFormat>Custom</PresentationFormat>
  <Paragraphs>104</Paragraphs>
  <Slides>23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Times New Roman</vt:lpstr>
      <vt:lpstr>Arial</vt:lpstr>
      <vt:lpstr>Century Schoolbook</vt:lpstr>
      <vt:lpstr>Wingdings</vt:lpstr>
      <vt:lpstr>Wingdings 2</vt:lpstr>
      <vt:lpstr>Calibri</vt:lpstr>
      <vt:lpstr>Constantia</vt:lpstr>
      <vt:lpstr>Oriel</vt:lpstr>
      <vt:lpstr>Dijkstra's algorithm</vt:lpstr>
      <vt:lpstr>The author: Edsger Wybe Dijkstra</vt:lpstr>
      <vt:lpstr>Edsger Wybe Dijkstra</vt:lpstr>
      <vt:lpstr>Single-Source Shortest Path Problem </vt:lpstr>
      <vt:lpstr>Dijkstra's algorithm </vt:lpstr>
      <vt:lpstr>Dijkstra's algorithm - Pseudocode</vt:lpstr>
      <vt:lpstr>Dijkstra Animated Example</vt:lpstr>
      <vt:lpstr>Dijkstra Animated Example</vt:lpstr>
      <vt:lpstr>Dijkstra Animated Example</vt:lpstr>
      <vt:lpstr>Dijkstra Animated Example</vt:lpstr>
      <vt:lpstr>Dijkstra Animated Example</vt:lpstr>
      <vt:lpstr>Dijkstra Animated Example</vt:lpstr>
      <vt:lpstr>Dijkstra Animated Example</vt:lpstr>
      <vt:lpstr>Dijkstra Animated Example</vt:lpstr>
      <vt:lpstr>Dijkstra Animated Example</vt:lpstr>
      <vt:lpstr>Dijkstra Animated Example</vt:lpstr>
      <vt:lpstr>Implementations and Running Times    </vt:lpstr>
      <vt:lpstr>Dijkstra's Algorithm - Why It Works</vt:lpstr>
      <vt:lpstr>PowerPoint Presentation</vt:lpstr>
      <vt:lpstr>PowerPoint Presentation</vt:lpstr>
      <vt:lpstr>Applications of Dijkstra's Algorithm</vt:lpstr>
      <vt:lpstr>Applications of Dijkstra's Algorithm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</dc:creator>
  <cp:lastModifiedBy>Rabins Porwal</cp:lastModifiedBy>
  <cp:revision>18</cp:revision>
  <dcterms:created xsi:type="dcterms:W3CDTF">2004-05-06T09:28:21Z</dcterms:created>
  <dcterms:modified xsi:type="dcterms:W3CDTF">2025-04-23T01:17:31Z</dcterms:modified>
</cp:coreProperties>
</file>